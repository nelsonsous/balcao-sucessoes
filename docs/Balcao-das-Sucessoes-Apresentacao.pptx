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Balcão das Sucessões é um balcão único para as sucessões do escritório. Mostrar a aplicação no computador e no telemóvel.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problema: complexidade, prazos legais e informação dispersa. A resposta cabe numa frase: organizar, acompanhar e identificar o próximo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princípios vêm do projeto-piloto original do escritório e foram preservados e aprofundados.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motor de regras: cada resposta ativa regras; cada regra gera tarefas com prazos calculados a partir da data do óbito. Quando as respostas mudam, a checklist é reconciliada sem perder o trabalho feito.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painel responde a "o que preciso de ver hoje?". Tudo é clicável e leva ao dossier ou à tarefa.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cabeçalho mostra estado, fase e indicadores; à direita, a próxima ação e o que está a bloquear. A checklist está organizada por fases e filtros.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Exemplo: relação de bens com prazo a acompanhar a participação do Imposto do Selo. O prazo cai a um sábado; a aplicação avisa e indica 2 de novembro, mantendo a data original por prudência.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interessados e o património alimentam as quotas, a checklist documental e as minutas.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checklist documental nasce das tarefas e dos interessados. Os anexos ficam no dispositivo e podem ser exportados na cópia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agenda junta prazos das tarefas, eventos e contactos a retomar. O ficheiro .ics leva tudo para o Outlook ou o Google Calendar com alarmes.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Vista transversal a todos os dossiers ativos, com filtro por responsável.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Frações exatas evitam erros de arredondamento. O resultado é um ponto de partida fundamentado, a validar pela equipa.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compositor mostra o documento em papel, permite editar e exporta para Word real (Office Open XML).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relatórios usam sempre os dados atuais do dossier. O ponto de situação para o cliente existe em três línguas.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paleta e o quadro Kanban aceleram o dia a dia; os modelos de dossier evitam responder de raiz a casos típicos.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partida fundamentado para a conversa com o colega local; nunca substitui a validação caso a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PIN protege contra acessos casuais; a cifra protege as cópias em trânsito e em repouso. Nada sai do dispositivo.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mesma aplicação em todos os dispositivos. Os dados de cada dispositivo transferem-se por cópia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Privacidade por natureza: nada sai do dispositivo. A responsabilidade pelo tratamento de dados é do escritório, com as ferramentas certas para a cumprir.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Novidades da versão 2.1 (1/5): a calculadora de prazos aplica as regras gerais do CC e do CPC; a partilha por ficheiro cifrado permite trabalhar o mesmo dossier em dois dispositivos sem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Novidades da versão 2.1 (2/5): sem servidor, mas com cópias automáticas para a pasta do escritório e receção de ficheiros a partir do telemóvel.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Novidades da versão 2.1 (3/5): segurança operacional — enganos desfazem-se e nada se apaga de imediato.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Novidades da versão 2.1 (4/5): indicadores de gestão interna calculados no dispositivo, com tabela alternativa em cada gráfico.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Novidades da versão 2.1 (5/5): encontrar depressa o que interessa e tratar documentos em lote, com pedidos por interessado.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 perguntas, 59 regras, 80 modelos de tarefa, 13 minutas em três línguas, prazos de referência em 16 países, 212 testes e 16 passos ponta a ponta em cada publicação, 0 violações de acessibilidade em 23 ecrãs (axe-core, WCAG 2.2 AA) em 16 ecrãs.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 moderna e aberta. A publicação é automática e só acontece com os testes a passar.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Vinte ciclos entregues em sequência (dois ciclos de dez), cada um publicado com testes a passar.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Convite a experimentar: abrir, instalar, explorar com dados fictícios. O manual acompanha 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 e convite às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nelsonsous.github.io/balcao-sucessoes/" TargetMode="External"/><Relationship Id="rId2" Type="http://schemas.openxmlformats.org/officeDocument/2006/relationships/image" Target="../media/image-1-1.jpg"/><Relationship Id="rId3" Type="http://schemas.openxmlformats.org/officeDocument/2006/relationships/image" Target="../media/image-1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1.png"/><Relationship Id="rId3" Type="http://schemas.openxmlformats.org/officeDocument/2006/relationships/image" Target="../media/image-27-1.png"/><Relationship Id="rId4" Type="http://schemas.openxmlformats.org/officeDocument/2006/relationships/image" Target="../media/image-27-1.png"/><Relationship Id="rId5" Type="http://schemas.openxmlformats.org/officeDocument/2006/relationships/image" Target="../media/image-27-1.png"/><Relationship Id="rId6" Type="http://schemas.openxmlformats.org/officeDocument/2006/relationships/image" Target="../media/image-27-1.png"/><Relationship Id="rId7" Type="http://schemas.openxmlformats.org/officeDocument/2006/relationships/image" Target="../media/image-27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nelsonsous.github.io/balcao-sucessoes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463040"/>
            <a:ext cx="4206240" cy="4206240"/>
          </a:xfrm>
          <a:prstGeom prst="ellipse">
            <a:avLst/>
          </a:prstGeom>
          <a:solidFill>
            <a:srgbClr val="2D39B9">
              <a:alpha val="28000"/>
            </a:srgbClr>
          </a:solidFill>
          <a:ln w="12700">
            <a:solidFill>
              <a:srgbClr val="2D39B9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AB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Gestão profissional de processos sucessórios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231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aplicação web progressiva (PWA) para organizar, acompanhar e identificar o próximo passo em cada sucessão — em português, offline e com os dados só no seu dispositivo.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576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nelsonsous.github.io/balcao-sucessoes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776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9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· versão 2.1 · 17 de setembro de 2026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74920" y="868680"/>
            <a:ext cx="3749040" cy="2340864"/>
          </a:xfrm>
          <a:prstGeom prst="roundRect">
            <a:avLst>
              <a:gd name="adj" fmla="val 3906"/>
            </a:avLst>
          </a:prstGeom>
          <a:solidFill>
            <a:srgbClr val="121A36"/>
          </a:solidFill>
          <a:ln w="9525">
            <a:solidFill>
              <a:srgbClr val="121A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0" descr="img/01-visao-gera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932688"/>
            <a:ext cx="3621024" cy="221284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772400" y="2377440"/>
            <a:ext cx="1051560" cy="2276856"/>
          </a:xfrm>
          <a:prstGeom prst="roundRect">
            <a:avLst>
              <a:gd name="adj" fmla="val 8696"/>
            </a:avLst>
          </a:prstGeom>
          <a:solidFill>
            <a:srgbClr val="121A36"/>
          </a:solidFill>
          <a:ln w="9525">
            <a:solidFill>
              <a:srgbClr val="121A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img/50-movel-visao-gera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408" y="2441448"/>
            <a:ext cx="923544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DESAFIO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Dezenas de passos, prazos e intervenientes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8" name="Image 0" descr="icons/list-checks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1492301"/>
            <a:ext cx="261518" cy="26151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" y="20116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passos e prazos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42316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Certidões, habilitação, participação do Imposto do Selo até ao fim do 3.º mês, IRS do falecido, relação de bens, registos — cada caso ativa um conjunto diferente de tarefas.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291840" y="114300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520440" y="1371600"/>
            <a:ext cx="502920" cy="50292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3" name="Image 1" descr="icons/user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141" y="149230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520440" y="20116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Muitos intervenientes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520440" y="242316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Herdeiros, cônjuge, cabeça-de-casal, bancos, notários, conservatórias, Finanças, entidades estrangeiras — cada um com documentos e contactos a acompanhar.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126480" y="114300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355080" y="1371600"/>
            <a:ext cx="502920" cy="50292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8" name="Image 2" descr="icons/layer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781" y="1492301"/>
            <a:ext cx="261518" cy="26151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55080" y="20116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 dispersa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242316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Emails, papel, memória de cada pessoa. Sem uma vista global, o risco é esquecer um prazo ou repetir trabalho.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Organizar. Acompanhar. Identificar o próximo passo.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ideias que estruturam a aplicação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2588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8" name="Image 0" descr="icons/circle-hel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35608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44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certas → dossier certo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17099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questionário de 27 perguntas descreve a sucessão. Não há checklists genéricas: cada dossier tem só as tarefas que lhe dizem respeito.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63440" y="114300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46320" y="132588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3" name="Image 1" descr="icons/rout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1435608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440680" y="1344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checklist é o motor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440680" y="17099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→ condição → tarefa → semáforo. 59 regras geram até 80 tarefas com orientações, documentos, referências legais e prazos.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28346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8" name="Image 2" descr="icons/siren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127248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34440" y="30358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está a bloquear?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234440" y="340156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ultrapassados, tarefas críticas por iniciar e dependências de terceiros — e a próxima ação, em cada dossier e para toda a equipa.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663440" y="2834640"/>
            <a:ext cx="40233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846320" y="301752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23" name="Image 3" descr="icons/shield-check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127248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40680" y="30358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Privacidade por natureza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5440680" y="340156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ficam só no dispositivo. Sem servidores. Funciona sem internet. Cópias de segurança nas mãos do escritório.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questionário à próxima ação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8" name="Image 0" descr="icons/clipboard-list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481328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88720" y="12984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2860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Óbito e conexões · Família · Disposições · Património e passivo · Partilha</a:t>
            </a:r>
            <a:endParaRPr lang="en-US" sz="1050" dirty="0"/>
          </a:p>
        </p:txBody>
      </p:sp>
      <p:pic>
        <p:nvPicPr>
          <p:cNvPr id="12" name="Image 1" descr="icons/arrow-right-indi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103120"/>
            <a:ext cx="201168" cy="20116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606040" y="11887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788920" y="137160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5" name="Image 2" descr="icons/git-branch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8648" y="148132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337560" y="12984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278892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2788920" y="22860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sobre as respostas, com a razão de cada uma</a:t>
            </a:r>
            <a:endParaRPr lang="en-US" sz="1050" dirty="0"/>
          </a:p>
        </p:txBody>
      </p:sp>
      <p:pic>
        <p:nvPicPr>
          <p:cNvPr id="19" name="Image 3" descr="icons/arrow-right-indi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4568" y="2103120"/>
            <a:ext cx="201168" cy="201168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4754880" y="11887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937760" y="137160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22" name="Image 4" descr="icons/list-checks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148132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486400" y="12984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3200" dirty="0"/>
          </a:p>
        </p:txBody>
      </p:sp>
      <p:sp>
        <p:nvSpPr>
          <p:cNvPr id="24" name="Text 17"/>
          <p:cNvSpPr txBox="1"/>
          <p:nvPr/>
        </p:nvSpPr>
        <p:spPr>
          <a:xfrm>
            <a:off x="493776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4937760" y="22860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Orientações, documentos, referências legais e prazos calculados</a:t>
            </a:r>
            <a:endParaRPr lang="en-US" sz="1050" dirty="0"/>
          </a:p>
        </p:txBody>
      </p:sp>
      <p:pic>
        <p:nvPicPr>
          <p:cNvPr id="26" name="Image 5" descr="icons/arrow-right-indi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08" y="2103120"/>
            <a:ext cx="201168" cy="201168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6903720" y="1188720"/>
            <a:ext cx="1920240" cy="2148840"/>
          </a:xfrm>
          <a:prstGeom prst="roundRect">
            <a:avLst>
              <a:gd name="adj" fmla="val 3810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7086600" y="137160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29" name="Image 6" descr="icons/target-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6328" y="1481328"/>
            <a:ext cx="237744" cy="23774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7635240" y="12984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31" name="Text 22"/>
          <p:cNvSpPr txBox="1"/>
          <p:nvPr/>
        </p:nvSpPr>
        <p:spPr>
          <a:xfrm>
            <a:off x="708660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ação</a:t>
            </a:r>
            <a:endParaRPr lang="en-US" sz="1200" dirty="0"/>
          </a:p>
        </p:txBody>
      </p:sp>
      <p:sp>
        <p:nvSpPr>
          <p:cNvPr id="32" name="Text 23"/>
          <p:cNvSpPr txBox="1"/>
          <p:nvPr/>
        </p:nvSpPr>
        <p:spPr>
          <a:xfrm>
            <a:off x="7086600" y="22860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Semáforo, bloqueios e o passo seguinte de cada dossier</a:t>
            </a:r>
            <a:endParaRPr lang="en-US" sz="1050" dirty="0"/>
          </a:p>
        </p:txBody>
      </p:sp>
      <p:sp>
        <p:nvSpPr>
          <p:cNvPr id="33" name="Text 24"/>
          <p:cNvSpPr txBox="1"/>
          <p:nvPr/>
        </p:nvSpPr>
        <p:spPr>
          <a:xfrm>
            <a:off x="45720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fases</a:t>
            </a:r>
            <a:endParaRPr lang="en-US" sz="1100" dirty="0"/>
          </a:p>
        </p:txBody>
      </p:sp>
      <p:sp>
        <p:nvSpPr>
          <p:cNvPr id="34" name="Shape 25"/>
          <p:cNvSpPr/>
          <p:nvPr/>
        </p:nvSpPr>
        <p:spPr>
          <a:xfrm>
            <a:off x="457200" y="3840480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457200" y="384048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</a:t>
            </a:r>
            <a:endParaRPr lang="en-US" sz="1050" dirty="0"/>
          </a:p>
        </p:txBody>
      </p:sp>
      <p:sp>
        <p:nvSpPr>
          <p:cNvPr id="36" name="Shape 27"/>
          <p:cNvSpPr/>
          <p:nvPr/>
        </p:nvSpPr>
        <p:spPr>
          <a:xfrm>
            <a:off x="2139696" y="3840480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2139696" y="384048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Interessados</a:t>
            </a:r>
            <a:endParaRPr lang="en-US" sz="1050" dirty="0"/>
          </a:p>
        </p:txBody>
      </p:sp>
      <p:sp>
        <p:nvSpPr>
          <p:cNvPr id="38" name="Shape 29"/>
          <p:cNvSpPr/>
          <p:nvPr/>
        </p:nvSpPr>
        <p:spPr>
          <a:xfrm>
            <a:off x="3822192" y="3840480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3822192" y="384048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Testamento</a:t>
            </a:r>
            <a:endParaRPr lang="en-US" sz="1050" dirty="0"/>
          </a:p>
        </p:txBody>
      </p:sp>
      <p:sp>
        <p:nvSpPr>
          <p:cNvPr id="40" name="Shape 31"/>
          <p:cNvSpPr/>
          <p:nvPr/>
        </p:nvSpPr>
        <p:spPr>
          <a:xfrm>
            <a:off x="5504688" y="3840480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5504688" y="384048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Habilitação</a:t>
            </a:r>
            <a:endParaRPr lang="en-US" sz="1050" dirty="0"/>
          </a:p>
        </p:txBody>
      </p:sp>
      <p:sp>
        <p:nvSpPr>
          <p:cNvPr id="42" name="Shape 33"/>
          <p:cNvSpPr/>
          <p:nvPr/>
        </p:nvSpPr>
        <p:spPr>
          <a:xfrm>
            <a:off x="7187184" y="3840480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7187184" y="384048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Internacional</a:t>
            </a:r>
            <a:endParaRPr lang="en-US" sz="1050" dirty="0"/>
          </a:p>
        </p:txBody>
      </p:sp>
      <p:sp>
        <p:nvSpPr>
          <p:cNvPr id="44" name="Shape 35"/>
          <p:cNvSpPr/>
          <p:nvPr/>
        </p:nvSpPr>
        <p:spPr>
          <a:xfrm>
            <a:off x="457200" y="4224528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45" name="Text 36"/>
          <p:cNvSpPr txBox="1"/>
          <p:nvPr/>
        </p:nvSpPr>
        <p:spPr>
          <a:xfrm>
            <a:off x="457200" y="422452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Património</a:t>
            </a:r>
            <a:endParaRPr lang="en-US" sz="1050" dirty="0"/>
          </a:p>
        </p:txBody>
      </p:sp>
      <p:sp>
        <p:nvSpPr>
          <p:cNvPr id="46" name="Shape 37"/>
          <p:cNvSpPr/>
          <p:nvPr/>
        </p:nvSpPr>
        <p:spPr>
          <a:xfrm>
            <a:off x="2139696" y="4224528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2139696" y="422452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Passivo</a:t>
            </a:r>
            <a:endParaRPr lang="en-US" sz="1050" dirty="0"/>
          </a:p>
        </p:txBody>
      </p:sp>
      <p:sp>
        <p:nvSpPr>
          <p:cNvPr id="48" name="Shape 39"/>
          <p:cNvSpPr/>
          <p:nvPr/>
        </p:nvSpPr>
        <p:spPr>
          <a:xfrm>
            <a:off x="3822192" y="4224528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3822192" y="422452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</a:t>
            </a:r>
            <a:endParaRPr lang="en-US" sz="1050" dirty="0"/>
          </a:p>
        </p:txBody>
      </p:sp>
      <p:sp>
        <p:nvSpPr>
          <p:cNvPr id="50" name="Shape 41"/>
          <p:cNvSpPr/>
          <p:nvPr/>
        </p:nvSpPr>
        <p:spPr>
          <a:xfrm>
            <a:off x="5504688" y="4224528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5504688" y="422452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Partilha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7187184" y="4224528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7187184" y="422452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a carteira de dossiers num só painel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01-visao-ger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em curso, a precisar de atenção, em andamento, concluídos, prazos a 30 dias.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7 dias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os atrasados; próximas ações ordenadas por urgência.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próxima,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global, fases, carga por responsável e contactos a retomar.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global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(tecla /) por dossier, falecido, cliente ou interessado.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DOSSIER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sucessão organizada em dez separadores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10-dossier-checkl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80760" y="1115568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172200" y="11155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080760" y="1453896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72200" y="14538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Interessados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80760" y="1792224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172200" y="17922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Património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80760" y="2130552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172200" y="213055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080760" y="2468880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72200" y="246888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080760" y="2807208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72200" y="280720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Internacional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080760" y="3145536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72200" y="314553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080760" y="3483864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72200" y="348386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&amp; contactos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080760" y="3822192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172200" y="382219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Questionário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080760" y="4160520"/>
            <a:ext cx="2651760" cy="283464"/>
          </a:xfrm>
          <a:prstGeom prst="roundRect">
            <a:avLst>
              <a:gd name="adj" fmla="val 19355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172200" y="416052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TAREFA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tarefa explica-se a si própria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11-dossier-taref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Gerada porque: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do questionário que a originou.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calculado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da data do óbito, com a regra aplicada e aviso de dia não útil (1.º dia útil seguinte).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responsável, fase e criticidade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as críticas por iniciar bloqueiam o dossier.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fazer, documentos e referências legais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sempre a validar pela equipa.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INTERESSADOS E PATRIMÓNIO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é quem e o que existe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12-dossier-interessad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3895344" cy="2386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1" descr="img/13-dossier-patrimoni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161288"/>
            <a:ext cx="3895344" cy="23865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Papéis, parentesco, cabeça-de-casal, procuração, aceitação ou repúdio,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representantes de menores.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Bens por tipo, titularidade (próprio/comum), base do valor e estado; passivo;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massa hereditária e meação.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checklist documental que se escreve sozinha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14-dossier-document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Gerada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das tarefas e dos interessados, sem duplicados; dez categorias.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falta → pedido → recebido → validado (ou N/A), com datas.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Anexos offline: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arrastar e largar, até 25 MB por ficheiro, guardados no dispositivo.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«documentos em falta»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com o que o cliente pode fornecer.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E PRAZOS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Calendário português, prazos legais e lembretes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21-agend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feriados nacionais, Carnaval, feriado municipal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férias judiciais; dias úteis e 1.º dia útil seguinte.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automáticos: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Imposto do Selo (fim do 3.º mês), IRS (30 de junho), França (6/12 meses), aceitação (10 anos).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(escrituras, reuniões, diligências, lembretes) com aviso de feriado.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.ics,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diário, notificações e contador no ícone.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ESTÁ A BLOQUEAR?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a equipa faz todas as manhãs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20-bloquei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080760" y="118872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9" name="Image 1" descr="icons/triangle-alert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488" y="129844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75120" y="12618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ultrapassados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080760" y="196596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2" name="Image 2" descr="icons/siren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207568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675120" y="20391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 críticas por iniciar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6080760" y="274320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5" name="Image 3" descr="icons/hourglass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88" y="2852928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675120" y="28163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aguardar terceiros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080760" y="352044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8" name="Image 4" descr="icons/calendar-clock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363016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675120" y="35935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nos próximos 30 dias</a:t>
            </a:r>
            <a:endParaRPr lang="en-US" sz="1250" dirty="0"/>
          </a:p>
        </p:txBody>
      </p:sp>
      <p:sp>
        <p:nvSpPr>
          <p:cNvPr id="20" name="Text 13"/>
          <p:cNvSpPr txBox="1"/>
          <p:nvPr/>
        </p:nvSpPr>
        <p:spPr>
          <a:xfrm>
            <a:off x="6080760" y="4343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toda a equipa ou por responsável; cada linha abre a tarefa no dossier.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CALCULADORA SUCESSÓRIA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Quotas hereditárias com frações exatas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22-calculado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sucessíveis, cônjuge com ¼ garantido, representação por estirpes, repúdio e indignidade </a:t>
            </a:r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(arts. 2133.º–2152.º, 2039.º–2044.º CC).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Legítima e quota disponível, meação, inoficiosidade e estimativa de Imposto do Selo </a:t>
            </a:r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(arts. 2156.º–2178.º, 1688.º–1689.º CC).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Fundamentação passo a passo, barra de quotas, tabela e árvore genealógica; </a:t>
            </a:r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separador Quotas em cada dossier.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MINUTAS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Cartas e emails preenchidos com o dossier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24-minuta-composit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minutas-base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português, francês e inglês: cliente, bancos, Banco de Portugal, testamento, procuração, notaire, ponto de situação.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campos automáticos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(falecido, cliente, prazos, listas de herdeiros, bens, documentos em falta…); campos em falta realçados.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Saídas: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copiar, Word (.docx), PDF, email e guardar no dossier.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Minutas do escritório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paleta de campos e pré-visualização.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documentos gerados a partir do dossier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27-relatorio-intern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interno: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bloqueios, checklist por fase, interessados, património, documentos, agenda e contactos.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situação para o cliente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português, francês ou inglês, sem notas internas.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de bens </a:t>
            </a:r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verbas numeradas e elementos de identificação; </a:t>
            </a:r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partilha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tornas.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com tabelas reais, PDF, arquivo no dossier e CSV para Excel.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PRODUTIVIDADE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cliques, mais foco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33-paleta-pesquis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3895344" cy="2386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1" descr="img/31-checklist-quad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161288"/>
            <a:ext cx="3895344" cy="23865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Paleta de comandos (⌘K):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para qualquer sítio, abrir dossiers, tarefas e minutas, executar ações — sem acentos, por iniciais.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Kanban, ações em massa, «As minhas tarefas» por urgência, modelos de dossier e quadro de dossiers por fase.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INTERNACIONAL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Sucessões com ligação a outro país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30-interna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aplicável e competência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 Regulamento (UE) 650/2012, explicadas passo a passo com os artigos.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Sucessório Europeu: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disponibilidade, finalidades, Estados, datas.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Documentos: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formulários multilingues, apostila ou legalização, por país.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de referência em 16 países </a:t>
            </a:r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entidades no estrangeiro (notaires, bancos, consulados).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PIN, cópias cifradas e modo privacidade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121A36"/>
          </a:solidFill>
          <a:ln w="9525">
            <a:solidFill>
              <a:srgbClr val="121A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39-bloqueio-p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3895344" cy="2386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1" descr="img/38-copia-cifrad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161288"/>
            <a:ext cx="3895344" cy="23865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Bloqueio por PIN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(PBKDF2, esperas após falhas), auto-bloqueio por inatividade e ao mudar de aplicação.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Cópias de segurança cifradas </a:t>
            </a:r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(AES-256-GCM) com lembrete semanal; </a:t>
            </a:r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privacidade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partilhar o ecrã; importação do protótipo original; Content Security Policy.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À MÃO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Instalável, offline, no computador e no telemóvel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463040" cy="3163824"/>
          </a:xfrm>
          <a:prstGeom prst="roundRect">
            <a:avLst>
              <a:gd name="adj" fmla="val 6250"/>
            </a:avLst>
          </a:prstGeom>
          <a:solidFill>
            <a:srgbClr val="121A36"/>
          </a:solidFill>
          <a:ln w="9525">
            <a:solidFill>
              <a:srgbClr val="121A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50-movel-visao-ger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1335024" cy="303580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029968" y="1097280"/>
            <a:ext cx="1463040" cy="3163824"/>
          </a:xfrm>
          <a:prstGeom prst="roundRect">
            <a:avLst>
              <a:gd name="adj" fmla="val 6250"/>
            </a:avLst>
          </a:prstGeom>
          <a:solidFill>
            <a:srgbClr val="121A36"/>
          </a:solidFill>
          <a:ln w="9525">
            <a:solidFill>
              <a:srgbClr val="121A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1" descr="img/51-movel-dossi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976" y="1161288"/>
            <a:ext cx="1335024" cy="30358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602736" y="1097280"/>
            <a:ext cx="1463040" cy="3163824"/>
          </a:xfrm>
          <a:prstGeom prst="roundRect">
            <a:avLst>
              <a:gd name="adj" fmla="val 6250"/>
            </a:avLst>
          </a:prstGeom>
          <a:solidFill>
            <a:srgbClr val="121A36"/>
          </a:solidFill>
          <a:ln w="9525">
            <a:solidFill>
              <a:srgbClr val="121A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11" name="Image 2" descr="img/52-movel-agend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1161288"/>
            <a:ext cx="1335024" cy="303580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257800" y="1097280"/>
            <a:ext cx="3429000" cy="2139696"/>
          </a:xfrm>
          <a:prstGeom prst="roundRect">
            <a:avLst>
              <a:gd name="adj" fmla="val 4274"/>
            </a:avLst>
          </a:prstGeom>
          <a:solidFill>
            <a:srgbClr val="121A36"/>
          </a:solidFill>
          <a:ln w="9525">
            <a:solidFill>
              <a:srgbClr val="121A3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img/30-escuro-visao-gera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8" y="1161288"/>
            <a:ext cx="3300984" cy="2011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257800" y="3383280"/>
            <a:ext cx="3429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instala-se em Windows, macOS, Android e iOS; abre em janela própria.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funciona sem ligação; atualizações quando escolher.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escuro,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 e contador de pendentes no ícone.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PRIVACIDADE E SEGURANÇA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dados ficam no dispositivo do escritório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289304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8" name="Image 0" descr="icons/hard-driv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399032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80160" y="12527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 local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657600" y="125272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IndexedDB no navegador, incluindo anexos. Sem contas, sem servidores, sem telemetria.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20116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0080" y="2157984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3" name="Image 1" descr="icons/databas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67712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80160" y="21214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Cópias de segurança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212140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Ficheiro .json (com ou sem anexos) para guardar, transferir e restaurar — substituir ou juntar.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288036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" y="3026664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8" name="Image 2" descr="icons/eye-off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136392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80160" y="29900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Eliminação controlada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3657600" y="299008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um dossier apaga tudo o que lhe pertence; «apagar todos os dados» limpa o dispositivo.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57200" y="374904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0080" y="3895344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23" name="Image 3" descr="icons/lock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005072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80160" y="38587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Proteções ativas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3657600" y="385876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Bloqueio por PIN com auto-bloqueio, cópias cifradas (AES-256-GCM), modo privacidade e Content Security Policy.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NOVIDADES 2.1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Prazos certos e dossiers que viajam entre colegas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41-praz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3895344" cy="2386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1" descr="img/43-importar-dossi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161288"/>
            <a:ext cx="3895344" cy="23865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Calculadora de prazos: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 corridos ou úteis, meses e anos, suspensão nas férias judiciais e transferência para o dia útil, com explicação passo a passo; agendar ou usar como prazo de uma tarefa.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Partilha entre colegas: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dossier completo, com anexos, num ficheiro cifrado; importação com pré-visualização dos conflitos e quatro regras de junção — nada é apagado e tudo fica no histórico.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NOVIDADES 2.1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Cópias automáticas e Recebidos no telemóvel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44-copias-automatica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3895344" cy="2386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1" descr="img/45-recebido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161288"/>
            <a:ext cx="3895344" cy="23865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Cópias automáticas: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cópias cifradas escritas numa pasta do dispositivo, com rotação e frequência à escolha; numa pasta sincronizada (OneDrive, SharePoint, Drive, NAS) o escritório fica com um repositório central sem servidor.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Recebidos: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Android, partilhar um PDF, uma fotografia ou uma ligação para o Balcão coloca-o em «Recebidos», pronto a anexar a um dossier ou a guardar como nota.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NOVIDADES 2.1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Nada se perde por engano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46-anul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3895344" cy="2386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1" descr="img/47-reciclage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161288"/>
            <a:ext cx="3895344" cy="23865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Anular: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mudança de estado, alteração em massa ou remoção mostra «Anular» (também Ctrl/⌘+Z); cada anulação fica no histórico.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Reciclagem: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tarefas, interessados, bens, documentos com anexo e dossiers inteiros ficam 30 dias na reciclagem, com reposição registada; o histórico passou a ser pesquisável e filtrável.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NOVIDADES 2.1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equipa: por mês, por fase e por pessoa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394960" cy="3374136"/>
          </a:xfrm>
          <a:prstGeom prst="roundRect">
            <a:avLst>
              <a:gd name="adj" fmla="val 2710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49-anali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5266944" cy="3246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35040" y="1143000"/>
            <a:ext cx="2651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mês: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abertos e encerrados, prazos cumpridos e falhados.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fase: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mediano até concluir cada fase e tarefas em aberto ou em atraso.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pessoa: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atual, prazos cumpridos e tempo médio de conclusão.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Acessível: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SVG com descrição textual e botão «Tabela»; período e pessoa à escolha; CSV.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NOVIDADES 2.1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Pesquisa, vistas e documentos com validade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7" name="Image 0" descr="img/60-filtr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161288"/>
            <a:ext cx="3895344" cy="23865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63440" y="109728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1" descr="img/63-pedido-documento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161288"/>
            <a:ext cx="3895344" cy="23865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e vistas: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prioridade, etiqueta, fase, prazos, óbito e internacional, no endereço da página; vistas predefinidas e guardadas com nome; pesquisa profunda e global (notas, contactos, documentos).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validade das certidões com avisos, pedidos de documentos por interessado com texto pronto e e-mail, pré-visualização de anexos e estados em lote.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NÚMEROS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está construído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258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6032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60320" y="13258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13258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tarefas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132588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0574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minutas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9718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703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países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60320" y="283464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560320" y="29718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212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2560320" y="3703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63440" y="283464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63440" y="29718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40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3703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passos E2E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66560" y="2834640"/>
            <a:ext cx="1920240" cy="1417320"/>
          </a:xfrm>
          <a:prstGeom prst="roundRect">
            <a:avLst>
              <a:gd name="adj" fmla="val 5161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0" y="29718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39B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3703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WCAG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 E PUBLICAÇÃO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Moderno, aberto e verificável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8" name="Image 0" descr="icons/cpu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80160" y="1371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192024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e TypeScript em modo estrito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e Workbox (service worker, precache)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Dexie sobre IndexedDB (dados e anexos)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regras, calendário e calculadora testados (Vitest)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Minutas em Office Open XML; iCalendar RFC 5545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92040" y="1325880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3" name="Image 1" descr="icons/rocket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435608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486400" y="1371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contínua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892040" y="2011680"/>
            <a:ext cx="1051560" cy="411480"/>
          </a:xfrm>
          <a:prstGeom prst="roundRect">
            <a:avLst>
              <a:gd name="adj" fmla="val 17778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92040" y="20116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050" dirty="0"/>
          </a:p>
        </p:txBody>
      </p:sp>
      <p:pic>
        <p:nvPicPr>
          <p:cNvPr id="17" name="Image 2" descr="icons/arrow-right-indi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2121408"/>
            <a:ext cx="182880" cy="1828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172200" y="2011680"/>
            <a:ext cx="1051560" cy="411480"/>
          </a:xfrm>
          <a:prstGeom prst="roundRect">
            <a:avLst>
              <a:gd name="adj" fmla="val 17778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172200" y="20116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1050" dirty="0"/>
          </a:p>
        </p:txBody>
      </p:sp>
      <p:pic>
        <p:nvPicPr>
          <p:cNvPr id="20" name="Image 3" descr="icons/arrow-right-indi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2121408"/>
            <a:ext cx="182880" cy="18288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7452360" y="2011680"/>
            <a:ext cx="1051560" cy="411480"/>
          </a:xfrm>
          <a:prstGeom prst="roundRect">
            <a:avLst>
              <a:gd name="adj" fmla="val 17778"/>
            </a:avLst>
          </a:prstGeom>
          <a:solidFill>
            <a:srgbClr val="EEF0FB"/>
          </a:solidFill>
          <a:ln w="12700">
            <a:solidFill>
              <a:srgbClr val="EEF0F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452360" y="20116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4892040" y="265176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alteração passa por 212 testes, 16 passos ponta a ponta e pela compilação antes de ser publicada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Aplicação: </a:t>
            </a:r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nelsonsous.github.io/balcao-sucessoes</a:t>
            </a:r>
            <a:endParaRPr lang="en-US" sz="1100" dirty="0"/>
          </a:p>
          <a:p>
            <a:pPr marL="177800" indent="-177800"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Código-fonte: </a:t>
            </a:r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github.com/nelsonsous/balcao-sucessoes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Atualizações entregues à aplicação instalada com aviso «Nova versão disponível»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PERCURSO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Vinte ciclos, todos entregues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161288"/>
            <a:ext cx="329184" cy="329184"/>
          </a:xfrm>
          <a:prstGeom prst="ellipse">
            <a:avLst/>
          </a:prstGeom>
          <a:solidFill>
            <a:srgbClr val="2D39B9"/>
          </a:solidFill>
          <a:ln w="9525">
            <a:solidFill>
              <a:srgbClr val="2D39B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161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13232" y="1490472"/>
            <a:ext cx="0" cy="173736"/>
          </a:xfrm>
          <a:prstGeom prst="line">
            <a:avLst/>
          </a:prstGeom>
          <a:noFill/>
          <a:ln w="12700">
            <a:solidFill>
              <a:srgbClr val="D9DC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17043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Fundação · Agenda e prazos · Calculadora sucessória · Documentos e minutas</a:t>
            </a:r>
            <a:endParaRPr lang="en-US" sz="1250" dirty="0"/>
          </a:p>
        </p:txBody>
      </p:sp>
      <p:pic>
        <p:nvPicPr>
          <p:cNvPr id="10" name="Image 0" descr="icons/circle-check-indi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07008"/>
            <a:ext cx="237744" cy="23774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1664208"/>
            <a:ext cx="329184" cy="329184"/>
          </a:xfrm>
          <a:prstGeom prst="ellipse">
            <a:avLst/>
          </a:prstGeom>
          <a:solidFill>
            <a:srgbClr val="2D39B9"/>
          </a:solidFill>
          <a:ln w="9525">
            <a:solidFill>
              <a:srgbClr val="2D39B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664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13232" y="1993392"/>
            <a:ext cx="0" cy="173736"/>
          </a:xfrm>
          <a:prstGeom prst="line">
            <a:avLst/>
          </a:prstGeom>
          <a:noFill/>
          <a:ln w="12700">
            <a:solidFill>
              <a:srgbClr val="D9DCE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97280" y="167335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 · Produtividade (paleta, Kanban, modelos) · Segurança (PIN, cópias cifradas, privacidade)</a:t>
            </a:r>
            <a:endParaRPr lang="en-US" sz="1250" dirty="0"/>
          </a:p>
        </p:txBody>
      </p:sp>
      <p:pic>
        <p:nvPicPr>
          <p:cNvPr id="15" name="Image 1" descr="icons/circle-check-indi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709928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48640" y="2167128"/>
            <a:ext cx="329184" cy="329184"/>
          </a:xfrm>
          <a:prstGeom prst="ellipse">
            <a:avLst/>
          </a:prstGeom>
          <a:solidFill>
            <a:srgbClr val="2D39B9"/>
          </a:solidFill>
          <a:ln w="9525">
            <a:solidFill>
              <a:srgbClr val="2D39B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8–10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13232" y="2496312"/>
            <a:ext cx="0" cy="173736"/>
          </a:xfrm>
          <a:prstGeom prst="line">
            <a:avLst/>
          </a:prstGeom>
          <a:noFill/>
          <a:ln w="12700">
            <a:solidFill>
              <a:srgbClr val="D9DC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97280" y="21762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Internacional (Reg. 650/2012, CSE, PT/FR/EN) · Qualidade (WCAG 2.2 AA, E2E) · Entrega (manual, apresentação)</a:t>
            </a:r>
            <a:endParaRPr lang="en-US" sz="1250" dirty="0"/>
          </a:p>
        </p:txBody>
      </p:sp>
      <p:pic>
        <p:nvPicPr>
          <p:cNvPr id="20" name="Image 2" descr="icons/circle-check-indi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212848"/>
            <a:ext cx="237744" cy="237744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548640" y="2670048"/>
            <a:ext cx="329184" cy="329184"/>
          </a:xfrm>
          <a:prstGeom prst="ellipse">
            <a:avLst/>
          </a:prstGeom>
          <a:solidFill>
            <a:srgbClr val="2D39B9"/>
          </a:solidFill>
          <a:ln w="9525">
            <a:solidFill>
              <a:srgbClr val="2D39B9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11–13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713232" y="2999232"/>
            <a:ext cx="0" cy="173736"/>
          </a:xfrm>
          <a:prstGeom prst="line">
            <a:avLst/>
          </a:prstGeom>
          <a:noFill/>
          <a:ln w="12700">
            <a:solidFill>
              <a:srgbClr val="D9DCE8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1097280" y="26791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e invariantes · Motor jurídico (27 perguntas, 59 regras, 80 tarefas) · Calculadora de prazos</a:t>
            </a:r>
            <a:endParaRPr lang="en-US" sz="1250" dirty="0"/>
          </a:p>
        </p:txBody>
      </p:sp>
      <p:pic>
        <p:nvPicPr>
          <p:cNvPr id="25" name="Image 3" descr="icons/circle-check-indi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2715768"/>
            <a:ext cx="237744" cy="237744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48640" y="3172968"/>
            <a:ext cx="329184" cy="329184"/>
          </a:xfrm>
          <a:prstGeom prst="ellipse">
            <a:avLst/>
          </a:prstGeom>
          <a:solidFill>
            <a:srgbClr val="2D39B9"/>
          </a:solidFill>
          <a:ln w="9525">
            <a:solidFill>
              <a:srgbClr val="2D39B9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4864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14–16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713232" y="3502152"/>
            <a:ext cx="0" cy="173736"/>
          </a:xfrm>
          <a:prstGeom prst="line">
            <a:avLst/>
          </a:prstGeom>
          <a:noFill/>
          <a:ln w="12700">
            <a:solidFill>
              <a:srgbClr val="D9DCE8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1097280" y="318211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Partilha entre colegas · Cópias automáticas e Recebidos · Anular e reciclagem</a:t>
            </a:r>
            <a:endParaRPr lang="en-US" sz="1250" dirty="0"/>
          </a:p>
        </p:txBody>
      </p:sp>
      <p:pic>
        <p:nvPicPr>
          <p:cNvPr id="30" name="Image 4" descr="icons/circle-check-indi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218688"/>
            <a:ext cx="237744" cy="237744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548640" y="3675888"/>
            <a:ext cx="329184" cy="329184"/>
          </a:xfrm>
          <a:prstGeom prst="ellipse">
            <a:avLst/>
          </a:prstGeom>
          <a:solidFill>
            <a:srgbClr val="2D39B9"/>
          </a:solidFill>
          <a:ln w="9525">
            <a:solidFill>
              <a:srgbClr val="2D39B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548640" y="3675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17–19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713232" y="4005072"/>
            <a:ext cx="0" cy="173736"/>
          </a:xfrm>
          <a:prstGeom prst="line">
            <a:avLst/>
          </a:prstGeom>
          <a:noFill/>
          <a:ln w="12700">
            <a:solidFill>
              <a:srgbClr val="D9DCE8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1097280" y="368503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da equipa · Pesquisa e vistas guardadas · Documentos avançados</a:t>
            </a:r>
            <a:endParaRPr lang="en-US" sz="1250" dirty="0"/>
          </a:p>
        </p:txBody>
      </p:sp>
      <p:pic>
        <p:nvPicPr>
          <p:cNvPr id="35" name="Image 5" descr="icons/circle-check-indi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3721608"/>
            <a:ext cx="237744" cy="237744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2D39B9"/>
          </a:solidFill>
          <a:ln w="9525">
            <a:solidFill>
              <a:srgbClr val="2D39B9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1097280" y="418795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Consolidação: auditoria de acessibilidade, 212 testes, manual e apresentação — versão 2.1</a:t>
            </a:r>
            <a:endParaRPr lang="en-US" sz="1250" dirty="0"/>
          </a:p>
        </p:txBody>
      </p:sp>
      <p:pic>
        <p:nvPicPr>
          <p:cNvPr id="39" name="Image 6" descr="icons/circle-check-indig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1040" y="4224528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8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39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COMEÇAR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passos e cinco minutos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 das Sucessões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7316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417320"/>
            <a:ext cx="548640" cy="54864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8" name="Image 0" descr="icons/globe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548994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468880" y="1325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EF0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5146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Aceda a nelsonsous.github.io/balcao-sucessoes em qualquer navegador atual.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91840" y="118872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0440" y="1417320"/>
            <a:ext cx="548640" cy="54864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14" name="Image 1" descr="icons/download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2114" y="1548994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303520" y="1325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EF0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2"/>
          <p:cNvSpPr txBox="1"/>
          <p:nvPr/>
        </p:nvSpPr>
        <p:spPr>
          <a:xfrm>
            <a:off x="352044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520440" y="25146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«Instalar» (computador/Android) ou, no iPhone/iPad, menu ≡ ou Partilhar → Adicionar ao ecrã principal.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126480" y="118872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7F8FC"/>
          </a:solidFill>
          <a:ln w="9525">
            <a:solidFill>
              <a:srgbClr val="D9DCE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55080" y="1417320"/>
            <a:ext cx="548640" cy="54864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20" name="Image 2" descr="icons/sparkles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754" y="1548994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138160" y="1325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EF0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17"/>
          <p:cNvSpPr txBox="1"/>
          <p:nvPr/>
        </p:nvSpPr>
        <p:spPr>
          <a:xfrm>
            <a:off x="635508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6355080" y="25146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«Explorar com dados fictícios» e percorra um dossier de demonstração; remova-os quando quiser.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EEF0FB"/>
          </a:solidFill>
          <a:ln w="9525">
            <a:solidFill>
              <a:srgbClr val="EEF0FB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40080" y="3904488"/>
            <a:ext cx="457200" cy="457200"/>
          </a:xfrm>
          <a:prstGeom prst="ellipse">
            <a:avLst/>
          </a:prstGeom>
          <a:solidFill>
            <a:srgbClr val="2D39B9"/>
          </a:solidFill>
          <a:ln w="12700">
            <a:solidFill>
              <a:srgbClr val="2D39B9"/>
            </a:solidFill>
            <a:prstDash val="solid"/>
          </a:ln>
        </p:spPr>
      </p:sp>
      <p:pic>
        <p:nvPicPr>
          <p:cNvPr id="26" name="Image 3" descr="icons/book-open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014216"/>
            <a:ext cx="237744" cy="23774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234440" y="39319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do utilizador (Word e PDF, 27 capítulos e 7 anexos) e resumo executivo — na pasta docs/ do projeto: github.com/nelsonsous/balcao-sucessoes.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21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463040"/>
            <a:ext cx="4206240" cy="4206240"/>
          </a:xfrm>
          <a:prstGeom prst="ellipse">
            <a:avLst/>
          </a:prstGeom>
          <a:solidFill>
            <a:srgbClr val="2D39B9">
              <a:alpha val="28000"/>
            </a:srgbClr>
          </a:solidFill>
          <a:ln w="12700">
            <a:solidFill>
              <a:srgbClr val="2D39B9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28016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Organizar. Acompanhar.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Identificar o próximo passo.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nelsonsous.github.io/balcao-sucessoes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9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jurídico de apoio — a validar pela equipa em cada caso. Dados de demonstração fictícios.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Balcão das Sucessões</dc:title>
  <dc:subject>PptxGenJS Presentation</dc:subject>
  <dc:creator>Balcão das Sucessões</dc:creator>
  <cp:lastModifiedBy>Balcão das Sucessões</cp:lastModifiedBy>
  <cp:revision>1</cp:revision>
  <dcterms:created xsi:type="dcterms:W3CDTF">2026-09-17T22:35:12Z</dcterms:created>
  <dcterms:modified xsi:type="dcterms:W3CDTF">2026-09-17T22:35:12Z</dcterms:modified>
</cp:coreProperties>
</file>