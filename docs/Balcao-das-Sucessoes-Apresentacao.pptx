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Balcão das Sucessões é um balcão único para as sucessões do escritório. Mostrar a aplicação no computador e no telemóvel.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complexidade, prazos legais e informação dispersa. A resposta cabe numa frase: organizar, acompanhar e identificar o próximo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princípios vêm do projeto-piloto original do escritório e foram preservados e aprofundados.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motor de regras: cada resposta ativa regras; cada regra gera tarefas com prazos calculados a partir da data do óbito. Quando as respostas mudam, a checklist é reconciliada sem perder o trabalho 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responde a "o que preciso de ver hoje?". Tudo é clicável e leva ao dossier ou à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cabeçalho mostra estado, fase e indicadores; à direita, a próxima ação e o que está a bloquear. A checklist está organizada por fases e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relação de bens com prazo a acompanhar a participação do Imposto do Selo. O prazo cai a um sábado; a aplicação avisa e indica 2 de novembro, mantendo a data original por prudência.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interessados e o património alimentam as quotas, a checklist documental e as minutas.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checklist documental nasce das tarefas e dos interessados. Os anexos ficam no dispositivo e podem ser exportados na cópia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agenda junta prazos das tarefas, eventos e contactos a retomar. O ficheiro .ics leva tudo para o Outlook ou o Google Calendar com alarmes.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transversal a todos os dossiers ativos, com filtro por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Frações exatas evitam erros de arredondamento. O resultado é um ponto de partida fundamentado, a validar pela equipa.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compositor mostra o documento em papel, permite editar e exporta para Word real (Office Open XML).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aplicação em todos os dispositivos. Os dados de cada dispositivo transferem-se por cópia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Privacidade por natureza: nada sai do dispositivo. A responsabilidade pelo tratamento de dados é do escritório, com as ferramentas certas para a cumprir.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perguntas, 55 regras, 72 modelos de tarefa, 10 fases, 11 minutas em três línguas, 35 campos automáticos, 13 feriados nacionais mais o municipal, 55 testes automáticos executados em cada publicação.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moderna e aberta. A publicação é automática e só acontece com os testes a passar.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primeiros ciclos estão entregues. Os seguintes acrescentam relatórios, produtividade, segurança, módulo internacional, qualidade e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Convite a experimentar: abrir, instalar, explorar com dados fictícios. O manual acompanha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e convite às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nelsonsous.github.io/balcao-sucessoes/" TargetMode="External"/><Relationship Id="rId2" Type="http://schemas.openxmlformats.org/officeDocument/2006/relationships/image" Target="../media/image-1-1.jpg"/><Relationship Id="rId3" Type="http://schemas.openxmlformats.org/officeDocument/2006/relationships/image" Target="../media/image-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nelsonsous.github.io/balcao-sucesso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D39B9">
              <a:alpha val="28000"/>
            </a:srgbClr>
          </a:solidFill>
          <a:ln w="12700">
            <a:solidFill>
              <a:srgbClr val="2D39B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A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profissional de processos sucessórios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progressiva (PWA) para organizar, acompanhar e identificar o próximo passo em cada sucessão — em português, offline e com os dados só no seu dispositivo.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nelsonsous.github.io/balcao-sucessoes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· 17 de setembro de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868680"/>
            <a:ext cx="3749040" cy="2340864"/>
          </a:xfrm>
          <a:prstGeom prst="roundRect">
            <a:avLst>
              <a:gd name="adj" fmla="val 3906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img/01-visao-ger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932688"/>
            <a:ext cx="3621024" cy="22128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2377440"/>
            <a:ext cx="1051560" cy="2276856"/>
          </a:xfrm>
          <a:prstGeom prst="roundRect">
            <a:avLst>
              <a:gd name="adj" fmla="val 8696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img/40-movel-visao-ger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2441448"/>
            <a:ext cx="923544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Dezenas de passos, prazos e intervenientes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list-check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923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passos e prazos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23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Certidões, habilitação, participação do Imposto do Selo até ao fim do 3.º mês, IRS do falecido, relação de bens, registos — cada caso ativa um conjunto diferente de tarefas.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371600"/>
            <a:ext cx="502920" cy="50292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3" name="Image 1" descr="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4923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intervenientes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423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Herdeiros, cônjuge, cabeça-de-casal, bancos, notários, conservatórias, Finanças, entidades estrangeiras — cada um com documentos e contactos a acompanhar.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11430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8" name="Image 2" descr="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149230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dispersa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423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papel, memória de cada pessoa. Sem uma vista global, o risco é esquecer um prazo ou repetir trabalho.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Organizar. Acompanhar. Identificar o próximo passo.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ideias que estruturam a aplicação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circle-hel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certas → dossier certo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099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questionário de 24 perguntas descreve a sucessão. Não há checklists genéricas: cada dossier tem só as tarefas que lhe dizem respeito.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3" name="Image 1" descr="icons/rout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356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é o motor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17099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→ condição → tarefa → semáforo. 55 regras geram até 72 tarefas com orientações, documentos, referências legais e prazos.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8" name="Image 2" descr="icons/sir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a bloquear?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4015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ultrapassados, tarefas críticas por iniciar e dependências de terceiros — e a próxima ação, em cada dossier e para toda a equipa.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3" name="Image 3" descr="icons/shield-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1272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40680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por natureza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40680" y="34015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só no dispositivo. Sem servidores. Funciona sem internet. Cópias de segurança nas mãos do escritório.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questionário à próxima 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clipboard-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2984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860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Óbito e conexões · Família · Disposições · Património e passivo · Partilha</a:t>
            </a:r>
            <a:endParaRPr lang="en-US" sz="1050" dirty="0"/>
          </a:p>
        </p:txBody>
      </p:sp>
      <p:pic>
        <p:nvPicPr>
          <p:cNvPr id="12" name="Image 1" descr="icons/arrow-right-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10312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11887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5" name="Image 2" descr="icons/git-bran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14813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37560" y="12984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278892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788920" y="22860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sobre as respostas, com a razão de cada uma</a:t>
            </a:r>
            <a:endParaRPr lang="en-US" sz="1050" dirty="0"/>
          </a:p>
        </p:txBody>
      </p:sp>
      <p:pic>
        <p:nvPicPr>
          <p:cNvPr id="19" name="Image 3" descr="icons/arrow-right-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0312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54880" y="11887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2" name="Image 4" descr="icons/list-check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48132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12984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200" dirty="0"/>
          </a:p>
        </p:txBody>
      </p:sp>
      <p:sp>
        <p:nvSpPr>
          <p:cNvPr id="24" name="Text 17"/>
          <p:cNvSpPr txBox="1"/>
          <p:nvPr/>
        </p:nvSpPr>
        <p:spPr>
          <a:xfrm>
            <a:off x="49377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4937760" y="22860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Orientações, documentos, referências legais e prazos calculados</a:t>
            </a:r>
            <a:endParaRPr lang="en-US" sz="1050" dirty="0"/>
          </a:p>
        </p:txBody>
      </p:sp>
      <p:pic>
        <p:nvPicPr>
          <p:cNvPr id="26" name="Image 5" descr="icons/arrow-right-indi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103120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903720" y="11887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086600" y="137160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9" name="Image 6" descr="icons/target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148132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635240" y="12984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31" name="Text 22"/>
          <p:cNvSpPr txBox="1"/>
          <p:nvPr/>
        </p:nvSpPr>
        <p:spPr>
          <a:xfrm>
            <a:off x="70866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ação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7086600" y="22860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Semáforo, bloqueios e o passo seguinte de cada dossier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fases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57200" y="384048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457200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2139696" y="384048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2139696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Interessados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3822192" y="384048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3822192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Testamento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5504688" y="384048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5504688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Habilitação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7187184" y="384048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187184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457200" y="4224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457200" y="42245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Património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2139696" y="4224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2139696" y="42245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3822192" y="4224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3822192" y="42245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5504688" y="4224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5504688" y="42245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7187184" y="4224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7187184" y="42245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a carteira de dossiers num só painel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01-visao-ger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em curso, a precisar de atenção, em andamento, concluídos, prazos a 30 dias.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7 dias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atrasados; próximas ações ordenadas por urgência.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próxima,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global, fases, carga por responsável e contactos a retomar.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global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(tecla /) por dossier, falecido, cliente ou interessado.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DOSSIER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sucessão organizada em nove separadores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10-dossier-check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111556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1155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48132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813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184708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84708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Património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221284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22128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257860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257860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294436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29443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80760" y="331012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33101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&amp; contactos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0760" y="367588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367588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80760" y="4041648"/>
            <a:ext cx="2651760" cy="301752"/>
          </a:xfrm>
          <a:prstGeom prst="roundRect">
            <a:avLst>
              <a:gd name="adj" fmla="val 181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72200" y="40416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tarefa explica-se a si própria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11-dossier-taref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 porque: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questionário que a originou.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calculado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data do óbito, com a regra aplicada e aviso de dia não útil (1.º dia útil seguinte).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responsável, fase e criticidade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 críticas por iniciar bloqueiam o dossier.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fazer, documentos e referências legais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sempre a validar pela equipa.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INTERESSADOS E PATRIMÓNIO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quem e o que existe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12-dossier-interessad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3895344" cy="23865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img/13-dossier-patrimoni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161288"/>
            <a:ext cx="3895344" cy="23865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Papéis, parentesco, cabeça-de-casal, procuração, aceitação ou repúdio,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representantes de menores.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por tipo, titularidade (próprio/comum), base do valor e estado; passivo;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hereditária e meação.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checklist documental que se escreve sozinha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14-dossier-document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das tarefas e dos interessados, sem duplicados; dez categorias.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falta → pedido → recebido → validado (ou N/A), com datas.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offline: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e largar, até 25 MB por ficheiro, guardados no dispositivo.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«documentos em falta»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o que o cliente pode fornecer.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PRAZOS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Calendário português, prazos legais e lembretes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21-age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feriados nacionais, Carnaval, feriado municipal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férias judiciais; dias úteis e 1.º dia útil seguinte.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automáticos: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 do Selo (fim do 3.º mês), IRS (30 de junho), França (6/12 meses), aceitação (10 anos).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(escrituras, reuniões, diligências, lembretes) com aviso de feriado.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.ics,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diário, notificações e contador no ícone.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A BLOQUEAR?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a equipa faz todas as manhãs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20-bloquei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118872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9" name="Image 1" descr="icons/triangle-ale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298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75120" y="1261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ultrapassados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80760" y="196596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2" name="Image 2" descr="icons/sir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0756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75120" y="2039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críticas por iniciar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80760" y="274320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5" name="Image 3" descr="icons/hourglas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85292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7512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aguardar terceiros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080760" y="352044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8" name="Image 4" descr="icons/calendar-clo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63016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7512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nos próximos 30 dias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608076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a equipa ou por responsável; cada linha abre a tarefa no dossier.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SUCESSÓRIA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Quotas hereditárias com frações exatas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22-calculado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sucessíveis, cônjuge com ¼ garantido, representação por estirpes, repúdio e indignidade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(arts. 2133.º–2152.º, 2039.º–2044.º CC).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 e quota disponível, meação, inoficiosidade e estimativa de Imposto do Selo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(arts. 2156.º–2178.º, 1688.º–1689.º CC).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passo a passo, barra de quotas, tabela e árvore genealógica;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 Quotas em cada dossier.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Cartas e emails preenchidos com o dossier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94960" cy="3374136"/>
          </a:xfrm>
          <a:prstGeom prst="roundRect">
            <a:avLst>
              <a:gd name="adj" fmla="val 2710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24-minuta-composi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26694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minutas-base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português, francês e inglês: cliente, bancos, Banco de Portugal, testamento, procuração, notaire.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campos automáticos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(falecido, cliente, prazos, listas de herdeiros, bens, documentos em falta…); campos em falta realçados.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copiar, Word (.docx), PDF, email e guardar no dossier.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do escritório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paleta de campos e pré-visualização.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À MÃO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Instalável, offline, no computador e no telemóvel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463040" cy="3163824"/>
          </a:xfrm>
          <a:prstGeom prst="roundRect">
            <a:avLst>
              <a:gd name="adj" fmla="val 6250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img/40-movel-visao-ger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1335024" cy="30358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29968" y="1097280"/>
            <a:ext cx="1463040" cy="3163824"/>
          </a:xfrm>
          <a:prstGeom prst="roundRect">
            <a:avLst>
              <a:gd name="adj" fmla="val 6250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img/41-movel-dossi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1161288"/>
            <a:ext cx="1335024" cy="3035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02736" y="1097280"/>
            <a:ext cx="1463040" cy="3163824"/>
          </a:xfrm>
          <a:prstGeom prst="roundRect">
            <a:avLst>
              <a:gd name="adj" fmla="val 6250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img/42-movel-agend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161288"/>
            <a:ext cx="1335024" cy="30358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257800" y="1097280"/>
            <a:ext cx="3429000" cy="2139696"/>
          </a:xfrm>
          <a:prstGeom prst="roundRect">
            <a:avLst>
              <a:gd name="adj" fmla="val 4274"/>
            </a:avLst>
          </a:prstGeom>
          <a:solidFill>
            <a:srgbClr val="121A36"/>
          </a:solidFill>
          <a:ln w="9525">
            <a:solidFill>
              <a:srgbClr val="12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3" descr="img/30-escuro-visao-gera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161288"/>
            <a:ext cx="3300984" cy="20116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33832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instala-se em Windows, macOS, Android e iOS; abre em janela própria.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funciona sem ligação; atualizações quando escolher.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escuro,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 contador de pendentes no ícone.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 SEGURANÇA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ficam no dispositivo do escritório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9304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hard-driv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990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local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2527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no navegador, incluindo anexos. Sem contas, sem servidores, sem telemetria.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157984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3" name="Image 1" descr="icons/databas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677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2121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Cópias de segurança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1214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Ficheiro .json (com ou sem anexos) para guardar, transferir e restaurar — substituir ou juntar.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026664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8" name="Image 2" descr="icons/eye-off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3639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controlada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0" y="29900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um dossier apaga tudo o que lhe pertence; «apagar todos os dados» limpa o dispositivo.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3" name="Image 3" descr="icons/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05072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858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657600" y="38587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por PIN, auto-bloqueio e cópias cifradas (AES-GCM) previstos no roadmap.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está construído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28346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8346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3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 PUBLICAÇÃO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Moderno, aberto e verificável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cpu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e TypeScript em modo estrito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e Workbox (service worker, precache)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sobre IndexedDB (dados e anexos)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regras, calendário e calculadora testados (Vitest)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em Office Open XML; iCalendar RFC 5545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3" name="Image 1" descr="icons/rocke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356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contínua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92040" y="201168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92040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pic>
        <p:nvPicPr>
          <p:cNvPr id="17" name="Image 2" descr="icons/arrow-right-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121408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201168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72200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</a:t>
            </a:r>
            <a:endParaRPr lang="en-US" sz="1050" dirty="0"/>
          </a:p>
        </p:txBody>
      </p:sp>
      <p:pic>
        <p:nvPicPr>
          <p:cNvPr id="20" name="Image 3" descr="icons/arrow-right-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121408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452360" y="201168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452360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2651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alteração passa pelos 55 testes e pela compilação antes de ser publicada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Aplicação: 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nelsonsous.github.io/balcao-sucessoes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Código-fonte: 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github.com/nelsonsous/balcao-sucessoes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entregues à aplicação instalada com aviso «Nova versão disponível»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ciclos entregues, seis previstos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61288"/>
            <a:ext cx="329184" cy="329184"/>
          </a:xfrm>
          <a:prstGeom prst="ellipse">
            <a:avLst/>
          </a:prstGeom>
          <a:solidFill>
            <a:srgbClr val="2D39B9"/>
          </a:solidFill>
          <a:ln w="9525">
            <a:solidFill>
              <a:srgbClr val="2D39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61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49047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170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· Agenda · Calculadora · Documentos e minutas</a:t>
            </a:r>
            <a:endParaRPr lang="en-US" sz="1250" dirty="0"/>
          </a:p>
        </p:txBody>
      </p:sp>
      <p:pic>
        <p:nvPicPr>
          <p:cNvPr id="10" name="Image 0" descr="icons/circle-check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07008"/>
            <a:ext cx="237744" cy="2377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66420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3232" y="199339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1673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do dossier, relação de bens, mapa de partilha, CSV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16712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232" y="249631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2176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comandos, Kanban por fase, ações em massa, modelos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267004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3232" y="299923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679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auto-bloqueio, cópias cifradas, modo de privacidade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317296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3232" y="350215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9728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França/UE: CSE, lei aplicável, checklist notaire; textos multilingues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367588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" y="4005072"/>
            <a:ext cx="0" cy="173736"/>
          </a:xfrm>
          <a:prstGeom prst="line">
            <a:avLst/>
          </a:prstGeom>
          <a:noFill/>
          <a:ln w="12700">
            <a:solidFill>
              <a:srgbClr val="D9DC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7280" y="3685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WCAG AA, desempenho, testes ponta a ponta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4178808"/>
            <a:ext cx="329184" cy="329184"/>
          </a:xfrm>
          <a:prstGeom prst="ellipse">
            <a:avLst/>
          </a:prstGeom>
          <a:solidFill>
            <a:srgbClr val="EEF0FB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4187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final, guia, pacote de entrega, resumo executivo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3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passos e cinco minutos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 das Sucessões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8" name="Image 0" descr="icons/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489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46888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Aceda a nelsonsous.github.io/balcao-sucessoes em qualquer navegador atual.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1417320"/>
            <a:ext cx="548640" cy="54864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14" name="Image 1" descr="icons/downloa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5489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0352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2044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«Instalar» (computador/Android) ou Partilhar → Adicionar ao ecrã principal (iPhone/iPad).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9525">
            <a:solidFill>
              <a:srgbClr val="D9DC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55080" y="1417320"/>
            <a:ext cx="548640" cy="54864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0" name="Image 2" descr="icons/sparkl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54899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«Explorar com dados fictícios» e percorra um dossier de demonstração; remova-os quando quiser.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9525">
            <a:solidFill>
              <a:srgbClr val="EEF0F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2D39B9"/>
          </a:solidFill>
          <a:ln w="12700">
            <a:solidFill>
              <a:srgbClr val="2D39B9"/>
            </a:solidFill>
            <a:prstDash val="solid"/>
          </a:ln>
        </p:spPr>
      </p:sp>
      <p:pic>
        <p:nvPicPr>
          <p:cNvPr id="26" name="Image 3" descr="icons/book-ope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1421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3444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utilizador (Word) com todas as funcionalidades, passo a passo, e anexos com o catálogo de tarefas, o questionário e os campos das minutas — disponível na pasta docs/ do projeto.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D39B9">
              <a:alpha val="28000"/>
            </a:srgbClr>
          </a:solidFill>
          <a:ln w="12700">
            <a:solidFill>
              <a:srgbClr val="2D39B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Organizar. Acompanhar.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próximo passo.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nelsonsous.github.io/balcao-sucessoes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jurídico de apoio — a validar pela equipa em cada caso. Dados de demonstração fictícios.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Balcão das Sucessões</dc:title>
  <dc:subject>PptxGenJS Presentation</dc:subject>
  <dc:creator>Balcão das Sucessões</dc:creator>
  <cp:lastModifiedBy>Balcão das Sucessões</cp:lastModifiedBy>
  <cp:revision>1</cp:revision>
  <dcterms:created xsi:type="dcterms:W3CDTF">2026-09-17T17:16:45Z</dcterms:created>
  <dcterms:modified xsi:type="dcterms:W3CDTF">2026-09-17T17:16:45Z</dcterms:modified>
</cp:coreProperties>
</file>