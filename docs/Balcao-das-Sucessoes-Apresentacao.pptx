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Balcão das Sucessões é um balcão único para as sucessões do escritório. Mostrar a aplicação no computador e no telemóvel.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problema: complexidade, prazos legais e informação dispersa. A resposta cabe numa frase: organizar, acompanhar e identificar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princípios vêm do projeto-piloto original do escritório e foram preservados e aprofundados.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motor de regras: cada resposta ativa regras; cada regra gera tarefas com prazos calculados a partir da data do óbito. Quando as respostas mudam, a checklist é reconciliada sem perder o trabalho 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responde a "o que preciso de ver hoje?". Tudo é clicável e leva ao dossier ou à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mostra estado, fase e indicadores; à direita, a próxima ação e o que está a bloquear. A checklist está organizada por fases e filtros.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Exemplo: relação de bens com prazo a acompanhar a participação do Imposto do Selo. O prazo cai a um sábado; a aplicação avisa e indica 2 de novembro, mantendo a data original por prudência.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interessados e o património alimentam as quotas, a checklist documental e as minutas.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checklist documental nasce das tarefas e dos interessados. Os anexos ficam no dispositivo e podem ser exportados na cópia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agenda junta prazos das tarefas, eventos e contactos a retomar. O ficheiro .ics leva tudo para o Outlook ou o Google Calendar com alarmes.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transversal a todos os dossiers ativos, com filtro por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Frações exatas evitam erros de arredondamento. O resultado é um ponto de partida fundamentado, a validar pela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compositor mostra o documento em papel, permite editar e exporta para Word real (Office Open XML).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relatórios usam sempre os dados atuais do dossier. O ponto de situação para o cliente existe em três línguas.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paleta e o quadro Kanban aceleram o dia a dia; os modelos de dossier evitam responder de raiz a casos típicos.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partida fundamentado para a conversa com o colega local; nunca substitui a validação caso 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PIN protege contra acessos casuais; a cifra protege as cópias em trânsito e em repouso. Nada sai do dispositivo.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aplicação em todos os dispositivos. Os dados de cada dispositivo transferem-se por cópia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Privacidade por natureza: nada sai do dispositivo. A responsabilidade pelo tratamento de dados é do escritório, com as ferramentas certas para a cumprir.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 perguntas, 55 regras, 72 modelos de tarefa, 13 minutas em três línguas, prazos de referência em 16 países, 94 testes unitários e 10 passos ponta a ponta em cada publicação, 0 violações de acessibilidade (axe-core, WCAG 2.2 AA) em 16 ecrãs.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moderna e aberta. A publicação é automática e só acontece com os testes a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 ciclos entregues em sequência, cada um publicado com testes a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Convite a experimentar: abrir, instalar, explorar com dados fictícios. O manual acompanha 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e convite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nelsonsous.github.io/balcao-sucessoes/" TargetMode="External"/><Relationship Id="rId2" Type="http://schemas.openxmlformats.org/officeDocument/2006/relationships/image" Target="../media/image-1-1.jpg"/><Relationship Id="rId3" Type="http://schemas.openxmlformats.org/officeDocument/2006/relationships/image" Target="../media/image-1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1.png"/><Relationship Id="rId3" Type="http://schemas.openxmlformats.org/officeDocument/2006/relationships/image" Target="../media/image-22-1.png"/><Relationship Id="rId4" Type="http://schemas.openxmlformats.org/officeDocument/2006/relationships/image" Target="../media/image-22-1.png"/><Relationship Id="rId5" Type="http://schemas.openxmlformats.org/officeDocument/2006/relationships/image" Target="../media/image-22-1.png"/><Relationship Id="rId6" Type="http://schemas.openxmlformats.org/officeDocument/2006/relationships/image" Target="../media/image-22-1.png"/><Relationship Id="rId7" Type="http://schemas.openxmlformats.org/officeDocument/2006/relationships/image" Target="../media/image-22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nelsonsous.github.io/balcao-sucessoe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463040"/>
            <a:ext cx="4206240" cy="4206240"/>
          </a:xfrm>
          <a:prstGeom prst="ellipse">
            <a:avLst/>
          </a:prstGeom>
          <a:solidFill>
            <a:srgbClr val="2D39B9">
              <a:alpha val="28000"/>
            </a:srgbClr>
          </a:solidFill>
          <a:ln w="12700">
            <a:solidFill>
              <a:srgbClr val="2D39B9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AB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profissional de processos sucessórios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aplicação web progressiva (PWA) para organizar, acompanhar e identificar o próximo passo em cada sucessão — em português, offline e com os dados só no seu dispositivo.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nelsonsous.github.io/balcao-sucessoes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· versão completa · 17 de setembro de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74920" y="868680"/>
            <a:ext cx="3749040" cy="2340864"/>
          </a:xfrm>
          <a:prstGeom prst="roundRect">
            <a:avLst>
              <a:gd name="adj" fmla="val 390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img/01-visao-ger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932688"/>
            <a:ext cx="3621024" cy="221284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772400" y="2377440"/>
            <a:ext cx="1051560" cy="2276856"/>
          </a:xfrm>
          <a:prstGeom prst="roundRect">
            <a:avLst>
              <a:gd name="adj" fmla="val 869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img/50-movel-visao-gera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08" y="2441448"/>
            <a:ext cx="923544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passos, prazos e intervenientes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list-check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492301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passos e prazos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Certidões, habilitação, participação do Imposto do Selo até ao fim do 3.º mês, IRS do falecido, relação de bens, registos — cada caso ativa um conjunto diferente de tarefas.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9184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49230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intervenientes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Herdeiros, cônjuge, cabeça-de-casal, bancos, notários, conservatórias, Finanças, entidades estrangeiras — cada um com documentos e contactos a acompanhar.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2648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5508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781" y="149230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 dispersa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Emails, papel, memória de cada pessoa. Sem uma vista global, o risco é esquecer um prazo ou repetir trabalho.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Organizar. Acompanhar. Identificar o próximo passo.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ideias que estruturam a aplicação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ircle-hel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356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44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certas → dossier certo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709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questionário de 24 perguntas descreve a sucessão. Não há checklists genéricas: cada dossier tem só as tarefas que lhe dizem respeito.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4632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rout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43560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40680" y="1344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checklist é o motor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40680" y="1709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→ condição → tarefa → semáforo. 55 regras geram até 72 tarefas com orientações, documentos, referências legais e prazos.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sir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2724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34440" y="3035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a bloquear?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234440" y="34015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ultrapassados, tarefas críticas por iniciar e dependências de terceiros — e a próxima ação, em cada dossier e para toda a equipa.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46320" y="30175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3" name="Image 3" descr="icons/shiel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12724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40680" y="3035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 por natureza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440680" y="34015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ficam só no dispositivo. Sem servidores. Funciona sem internet. Cópias de segurança nas mãos do escritório.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questionário à próxima ação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lipboard-lis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Óbito e conexões · Família · Disposições · Património e passivo · Partilha</a:t>
            </a:r>
            <a:endParaRPr lang="en-US" sz="1050" dirty="0"/>
          </a:p>
        </p:txBody>
      </p:sp>
      <p:pic>
        <p:nvPicPr>
          <p:cNvPr id="12" name="Image 1" descr="icons/arrow-right-indi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103120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60604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5" name="Image 2" descr="icons/git-bran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648" y="148132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278892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278892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sobre as respostas, com a razão de cada uma</a:t>
            </a:r>
            <a:endParaRPr lang="en-US" sz="1050" dirty="0"/>
          </a:p>
        </p:txBody>
      </p:sp>
      <p:pic>
        <p:nvPicPr>
          <p:cNvPr id="19" name="Image 3" descr="icons/arrow-right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568" y="2103120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75488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93776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2" name="Image 4" descr="icons/list-check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148132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493776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493776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Orientações, documentos, referências legais e prazos calculados</a:t>
            </a:r>
            <a:endParaRPr lang="en-US" sz="1050" dirty="0"/>
          </a:p>
        </p:txBody>
      </p:sp>
      <p:pic>
        <p:nvPicPr>
          <p:cNvPr id="26" name="Image 5" descr="icons/arrow-right-indi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08" y="2103120"/>
            <a:ext cx="201168" cy="201168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90372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08660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9" name="Image 6" descr="icons/target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6328" y="1481328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63524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31" name="Text 22"/>
          <p:cNvSpPr txBox="1"/>
          <p:nvPr/>
        </p:nvSpPr>
        <p:spPr>
          <a:xfrm>
            <a:off x="70866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ação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708660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Semáforo, bloqueios e o passo seguinte de cada dossier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45720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fases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57200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457200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050" dirty="0"/>
          </a:p>
        </p:txBody>
      </p:sp>
      <p:sp>
        <p:nvSpPr>
          <p:cNvPr id="36" name="Shape 27"/>
          <p:cNvSpPr/>
          <p:nvPr/>
        </p:nvSpPr>
        <p:spPr>
          <a:xfrm>
            <a:off x="2139696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2139696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3822192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3822192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Testamento</a:t>
            </a:r>
            <a:endParaRPr lang="en-US" sz="1050" dirty="0"/>
          </a:p>
        </p:txBody>
      </p:sp>
      <p:sp>
        <p:nvSpPr>
          <p:cNvPr id="40" name="Shape 31"/>
          <p:cNvSpPr/>
          <p:nvPr/>
        </p:nvSpPr>
        <p:spPr>
          <a:xfrm>
            <a:off x="5504688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504688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Habilitação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7187184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7187184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57200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457200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Património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139696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139696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Passivo</a:t>
            </a:r>
            <a:endParaRPr lang="en-US" sz="1050" dirty="0"/>
          </a:p>
        </p:txBody>
      </p:sp>
      <p:sp>
        <p:nvSpPr>
          <p:cNvPr id="48" name="Shape 39"/>
          <p:cNvSpPr/>
          <p:nvPr/>
        </p:nvSpPr>
        <p:spPr>
          <a:xfrm>
            <a:off x="3822192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822192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5504688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504688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7187184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187184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a carteira de dossiers num só painel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01-visao-ger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em curso, a precisar de atenção, em andamento, concluídos, prazos a 30 dias.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7 dias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atrasados; próximas ações ordenadas por urgência.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próxima,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global, fases, carga por responsável e contactos a retomar.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global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(tecla /) por dossier, falecido, cliente ou interessado.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DOSSIER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sucessão organizada em dez separadores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0-dossier-checkl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80760" y="1115568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72200" y="11155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80760" y="1453896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4538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80760" y="1792224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17922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Património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80760" y="2130552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72200" y="213055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80760" y="2468880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72200" y="246888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80760" y="2807208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72200" y="280720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080760" y="3145536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314553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080760" y="3483864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72200" y="348386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&amp; contactos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080760" y="3822192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382219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Questionário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80760" y="4160520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16052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tarefa explica-se a si própria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1-dossier-taref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 porque: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do questionário que a originou.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calculado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data do óbito, com a regra aplicada e aviso de dia não útil (1.º dia útil seguinte).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responsável, fase e criticidade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 críticas por iniciar bloqueiam o dossier.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fazer, documentos e referências legais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sempre a validar pela equipa.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 E PATRIMÓNIO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quem e o que existe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2-dossier-interessad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13-dossier-patrimoni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Papéis, parentesco, cabeça-de-casal, procuração, aceitação ou repúdio,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representantes de menores.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por tipo, titularidade (próprio/comum), base do valor e estado; passivo;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 hereditária e meação.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checklist documental que se escreve sozinha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4-dossier-document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das tarefas e dos interessados, sem duplicados; dez categorias.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falta → pedido → recebido → validado (ou N/A), com datas.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offline: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largar, até 25 MB por ficheiro, guardados no dispositivo.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«documentos em falta»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 o que o cliente pode fornecer.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E PRAZOS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Calendário português, prazos legais e lembretes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1-age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feriados nacionais, Carnaval, feriado municipal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férias judiciais; dias úteis e 1.º dia útil seguinte.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automáticos: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Imposto do Selo (fim do 3.º mês), IRS (30 de junho), França (6/12 meses), aceitação (10 anos).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(escrituras, reuniões, diligências, lembretes) com aviso de feriado.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.ics,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diário, notificações e contador no ícone.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A BLOQUEAR?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a equipa faz todas as manhãs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0-bloquei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80760" y="11887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9" name="Image 1" descr="icons/triangle-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12984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75120" y="12618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ultrapassados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080760" y="196596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2" name="Image 2" descr="icons/sir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075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75120" y="2039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críticas por iniciar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080760" y="27432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5" name="Image 3" descr="icons/hourgl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85292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67512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aguardar terceiros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0760" y="352044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4" descr="icons/calendar-clock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363016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675120" y="3593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nos próximos 30 dias</a:t>
            </a:r>
            <a:endParaRPr lang="en-US" sz="12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4343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a equipa ou por responsável; cada linha abre a tarefa no dossier.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SUCESSÓRIA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Quotas hereditárias com frações exatas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2-calculad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sucessíveis, cônjuge com ¼ garantido, representação por estirpes, repúdio e indignidade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(arts. 2133.º–2152.º, 2039.º–2044.º CC).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Legítima e quota disponível, meação, inoficiosidade e estimativa de Imposto do Selo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(arts. 2156.º–2178.º, 1688.º–1689.º CC).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 passo a passo, barra de quotas, tabela e árvore genealógica;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separador Quotas em cada dossier.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Cartas e emails preenchidos com o dossier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4-minuta-composi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minutas-base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português, francês e inglês: cliente, bancos, Banco de Portugal, testamento, procuração, notaire, ponto de situação.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campos automáticos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(falecido, cliente, prazos, listas de herdeiros, bens, documentos em falta…); campos em falta realçados.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copiar, Word (.docx), PDF, email e guardar no dossier.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 do escritório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paleta de campos e pré-visualização.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documentos gerados a partir do dossier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7-relatorio-inter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interno: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bloqueios, checklist por fase, interessados, património, documentos, agenda e contactos.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situação para o cliente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português, francês ou inglês, sem notas internas.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de bens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verbas numeradas e elementos de identificação;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partilha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com tabelas reais, PDF, arquivo no dossier e CSV para Excel.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cliques, mais foco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3-paleta-pesqu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31-checklist-quad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de comandos (⌘K):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para qualquer sítio, abrir dossiers, tarefas e minutas, executar ações — sem acentos, por iniciais.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Kanban, ações em massa, «As minhas tarefas» por urgência, modelos de dossier e quadro de dossiers por fase.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Sucessões com ligação a outro país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0-interna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aplicável e competência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Regulamento (UE) 650/2012, explicadas passo a passo com os artigos.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Sucessório Europeu: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disponibilidade, finalidades, Estados, datas.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formulários multilingues, apostila ou legalização, por país.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de referência em 16 países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entidades no estrangeiro (notaires, bancos, consulados).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PIN, cópias cifradas e modo privacidade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9-bloqueio-p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38-copia-cifr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por PIN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(PBKDF2, esperas após falhas), auto-bloqueio por inatividade e ao mudar de aplicação.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de segurança cifradas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(AES-256-GCM) com lembrete semanal;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privacidade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partilhar o ecrã; importação do protótipo original; Content Security Policy.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À MÃO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Instalável, offline, no computador e no telemóvel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50-movel-visao-ger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1335024" cy="30358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029968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51-movel-dossi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976" y="1161288"/>
            <a:ext cx="1335024" cy="3035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02736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img/52-movel-agend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1161288"/>
            <a:ext cx="1335024" cy="303580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257800" y="1097280"/>
            <a:ext cx="3429000" cy="2139696"/>
          </a:xfrm>
          <a:prstGeom prst="roundRect">
            <a:avLst>
              <a:gd name="adj" fmla="val 4274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img/30-escuro-visao-gera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161288"/>
            <a:ext cx="3300984" cy="2011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57800" y="338328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instala-se em Windows, macOS, Android e iOS; abre em janela própria.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funciona sem ligação; atualizações quando escolher.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escuro,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e contador de pendentes no ícone.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 E SEGURANÇA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 ficam no dispositivo do escritório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8930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hard-driv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99032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local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12527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no navegador, incluindo anexos. Sem contas, sem servidores, sem telemetria.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215798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databas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67712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2121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de segurança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12140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 .json (com ou sem anexos) para guardar, transferir e restaurar — substituir ou juntar.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8803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eye-off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36392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80160" y="29900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 controlada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657600" y="299008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um dossier apaga tudo o que lhe pertence; «apagar todos os dados» limpa o dispositivo.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37490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389534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3" name="Image 3" descr="icons/lo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05072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0160" y="3858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Proteções ativas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85876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por PIN com auto-bloqueio, cópias cifradas (AES-256-GCM), modo privacidade e Content Security Policy.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NÚMEROS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está construído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6344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6344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passos E2E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6656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WCAG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E PUBLICAÇÃO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Moderno, aberto e verificável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pu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92024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e TypeScript em modo estrito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e Workbox (service worker, precache)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Dexie sobre IndexedDB (dados e anexos)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regras, calendário e calculadora testados (Vitest)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 em Office Open XML; iCalendar RFC 5545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rocke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contínua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9204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050" dirty="0"/>
          </a:p>
        </p:txBody>
      </p:sp>
      <p:pic>
        <p:nvPicPr>
          <p:cNvPr id="17" name="Image 2" descr="icons/arrow-right-indi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121408"/>
            <a:ext cx="182880" cy="1828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7220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050" dirty="0"/>
          </a:p>
        </p:txBody>
      </p:sp>
      <p:pic>
        <p:nvPicPr>
          <p:cNvPr id="20" name="Image 3" descr="icons/arrow-right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2121408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45236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45236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892040" y="26517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passa por 94 testes unitários, 10 passos ponta a ponta e pela compilação antes de ser publicada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Aplicação: 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nelsonsous.github.io/balcao-sucessoes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Código-fonte: 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github.com/nelsonsous/balcao-sucessoes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 entregues à aplicação instalada com aviso «Nova versão disponível»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 ciclos, todos entregues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6128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149047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1704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 · Agenda e prazos · Calculadora sucessória · Documentos e minutas</a:t>
            </a:r>
            <a:endParaRPr lang="en-US" sz="1250" dirty="0"/>
          </a:p>
        </p:txBody>
      </p:sp>
      <p:pic>
        <p:nvPicPr>
          <p:cNvPr id="10" name="Image 0" descr="icons/circle-check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07008"/>
            <a:ext cx="237744" cy="23774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6420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13232" y="199339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16733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do dossier, relação de bens, mapa de partilha, CSV</a:t>
            </a:r>
            <a:endParaRPr lang="en-US" sz="1250" dirty="0"/>
          </a:p>
        </p:txBody>
      </p:sp>
      <p:pic>
        <p:nvPicPr>
          <p:cNvPr id="15" name="Image 1" descr="icons/circle-check-indi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709928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48640" y="216712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249631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176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de comandos, quadro Kanban, ações em massa, modelos, as minhas tarefas</a:t>
            </a:r>
            <a:endParaRPr lang="en-US" sz="1250" dirty="0"/>
          </a:p>
        </p:txBody>
      </p:sp>
      <p:pic>
        <p:nvPicPr>
          <p:cNvPr id="20" name="Image 2" descr="icons/circle-check-indi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212848"/>
            <a:ext cx="237744" cy="23774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48640" y="267004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13232" y="299923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097280" y="26791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e auto-bloqueio, cópias cifradas, modo privacidade, importação do protótipo</a:t>
            </a:r>
            <a:endParaRPr lang="en-US" sz="1250" dirty="0"/>
          </a:p>
        </p:txBody>
      </p:sp>
      <p:pic>
        <p:nvPicPr>
          <p:cNvPr id="25" name="Image 3" descr="icons/circle-check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715768"/>
            <a:ext cx="237744" cy="237744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48640" y="317296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486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713232" y="350215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097280" y="318211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aplicável (Reg. 650/2012), CSE, documentos e prazos por país, PT/FR/EN</a:t>
            </a:r>
            <a:endParaRPr lang="en-US" sz="1250" dirty="0"/>
          </a:p>
        </p:txBody>
      </p:sp>
      <p:pic>
        <p:nvPicPr>
          <p:cNvPr id="30" name="Image 4" descr="icons/circle-check-indi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218688"/>
            <a:ext cx="237744" cy="237744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48640" y="367588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48640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713232" y="400507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1097280" y="36850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 WCAG 2.2 AA, divisão de código, testes ponta a ponta</a:t>
            </a:r>
            <a:endParaRPr lang="en-US" sz="1250" dirty="0"/>
          </a:p>
        </p:txBody>
      </p:sp>
      <p:pic>
        <p:nvPicPr>
          <p:cNvPr id="35" name="Image 5" descr="icons/circle-check-indi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721608"/>
            <a:ext cx="237744" cy="237744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1097280" y="41879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apresentação e resumo executivo atualizados</a:t>
            </a:r>
            <a:endParaRPr lang="en-US" sz="1250" dirty="0"/>
          </a:p>
        </p:txBody>
      </p:sp>
      <p:pic>
        <p:nvPicPr>
          <p:cNvPr id="39" name="Image 6" descr="icons/circle-check-indi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22452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COMEÇAR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passos e cinco minutos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glob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54899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46888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Aceda a nelsonsous.github.io/balcao-sucessoes em qualquer navegador atual.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044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4" name="Image 1" descr="icons/downloa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2114" y="15489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0352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35204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2044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«Instalar» (computador/Android) ou Partilhar → Adicionar ao ecrã principal (iPhone/iPad).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2648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5508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0" name="Image 2" descr="icons/sparkle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54" y="15489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13816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35508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«Explorar com dados fictícios» e percorra um dossier de demonstração; remova-os quando quiser.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EEF0FB"/>
          </a:solidFill>
          <a:ln w="9525">
            <a:solidFill>
              <a:srgbClr val="EEF0F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6" name="Image 3" descr="icons/book-open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14216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34440" y="3931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utilizador (Word e PDF, 18 capítulos e 7 anexos) e resumo executivo — na pasta docs/ do projeto: github.com/nelsonsous/balcao-sucessoes.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463040"/>
            <a:ext cx="4206240" cy="4206240"/>
          </a:xfrm>
          <a:prstGeom prst="ellipse">
            <a:avLst/>
          </a:prstGeom>
          <a:solidFill>
            <a:srgbClr val="2D39B9">
              <a:alpha val="28000"/>
            </a:srgbClr>
          </a:solidFill>
          <a:ln w="12700">
            <a:solidFill>
              <a:srgbClr val="2D39B9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Organizar. Acompanhar.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Identificar o próximo passo.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nelsonsous.github.io/balcao-sucessoes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jurídico de apoio — a validar pela equipa em cada caso. Dados de demonstração fictícios.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Balcão das Sucessões</dc:title>
  <dc:subject>PptxGenJS Presentation</dc:subject>
  <dc:creator>Balcão das Sucessões</dc:creator>
  <cp:lastModifiedBy>Balcão das Sucessões</cp:lastModifiedBy>
  <cp:revision>1</cp:revision>
  <dcterms:created xsi:type="dcterms:W3CDTF">2026-09-17T18:29:10Z</dcterms:created>
  <dcterms:modified xsi:type="dcterms:W3CDTF">2026-09-17T18:29:10Z</dcterms:modified>
</cp:coreProperties>
</file>